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03920" y="-1097280"/>
            <a:ext cx="5029200" cy="5029200"/>
          </a:xfrm>
          <a:prstGeom prst="roundRect">
            <a:avLst>
              <a:gd name="adj" fmla="val 50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01200" y="3931920"/>
            <a:ext cx="4114800" cy="4114800"/>
          </a:xfrm>
          <a:prstGeom prst="roundRect">
            <a:avLst>
              <a:gd name="adj" fmla="val 50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73152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B8A6"/>
                </a:solidFill>
                <a:latin typeface="Segoe UI"/>
              </a:rPr>
              <a:t>ХЭРЭГЛЭГЧИЙН ГАРЫН АВЛАГА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914400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AFAFA"/>
                </a:solidFill>
                <a:latin typeface="Segoe UI"/>
              </a:rPr>
              <a:t>ISHOP </a:t>
            </a:r>
            <a:r>
              <a:rPr sz="6000" b="1">
                <a:solidFill>
                  <a:srgbClr val="14B8A6"/>
                </a:solidFill>
                <a:latin typeface="Segoe UI"/>
              </a:rPr>
              <a:t>платформ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868680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A1A1AA"/>
                </a:solidFill>
                <a:latin typeface="Segoe UI"/>
              </a:rPr>
              <a:t>Онлайн худалдааны систем ашиглах бүрэн заавар 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A1A1AA"/>
                </a:solidFill>
                <a:latin typeface="Segoe UI"/>
              </a:rPr>
              <a:t>хэрэглэгч болон админ хэсгийн дэлгэрэнгүй гарын авлага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937760"/>
            <a:ext cx="1362456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919472"/>
            <a:ext cx="1362456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B8A6"/>
                </a:solidFill>
                <a:latin typeface="Segoe UI"/>
              </a:rPr>
              <a:t>Next.js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68296" y="4937760"/>
            <a:ext cx="230886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68296" y="4919472"/>
            <a:ext cx="230886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EEAD4"/>
                </a:solidFill>
                <a:latin typeface="Segoe UI"/>
              </a:rPr>
              <a:t>Хэрэглэгчийн заавар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03504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1717A"/>
                </a:solidFill>
                <a:latin typeface="Segoe UI"/>
              </a:rPr>
              <a:t>IShop · Онлайн дэлгүүр · </a:t>
            </a:r>
            <a:r>
              <a:rPr sz="1200" b="1">
                <a:solidFill>
                  <a:srgbClr val="14B8A6"/>
                </a:solidFill>
                <a:latin typeface="Segoe UI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ЕРӨНХИЙ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AFAFA"/>
                </a:solidFill>
                <a:latin typeface="Segoe UI"/>
              </a:rPr>
              <a:t>Энэ гарын авлагад юу багтсан бэ?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48640"/>
            <a:ext cx="822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1717A"/>
                </a:solidFill>
                <a:latin typeface="Segoe UI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5349240" cy="960120"/>
          </a:xfrm>
          <a:prstGeom prst="roundRect">
            <a:avLst>
              <a:gd name="adj" fmla="val 12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929384"/>
            <a:ext cx="8229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4B8A6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929384"/>
            <a:ext cx="41605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AFAFA"/>
                </a:solidFill>
                <a:latin typeface="Segoe UI"/>
              </a:rPr>
              <a:t>Системийн танилцуулга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313432"/>
            <a:ext cx="41605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1A1AA"/>
                </a:solidFill>
                <a:latin typeface="Segoe UI"/>
              </a:rPr>
              <a:t>IShop гэж юу вэ, хэн ашиглах вэ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783080"/>
            <a:ext cx="5349240" cy="960120"/>
          </a:xfrm>
          <a:prstGeom prst="roundRect">
            <a:avLst>
              <a:gd name="adj" fmla="val 12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929384"/>
            <a:ext cx="8229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4B8A6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19" y="1929384"/>
            <a:ext cx="41605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AFAFA"/>
                </a:solidFill>
                <a:latin typeface="Segoe UI"/>
              </a:rPr>
              <a:t>Бүртгэл ба нэвтрэлт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19" y="2313432"/>
            <a:ext cx="41605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1A1AA"/>
                </a:solidFill>
                <a:latin typeface="Segoe UI"/>
              </a:rPr>
              <a:t>Шинээр бүртгүүлэх, нэвтрэх, нууц үг сэргээх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907791"/>
            <a:ext cx="5349240" cy="960120"/>
          </a:xfrm>
          <a:prstGeom prst="roundRect">
            <a:avLst>
              <a:gd name="adj" fmla="val 12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3054096"/>
            <a:ext cx="8229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4B8A6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054096"/>
            <a:ext cx="41605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AFAFA"/>
                </a:solidFill>
                <a:latin typeface="Segoe UI"/>
              </a:rPr>
              <a:t>Дэлгүүр хэсэг (хэрэглэгч)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438144"/>
            <a:ext cx="41605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1A1AA"/>
                </a:solidFill>
                <a:latin typeface="Segoe UI"/>
              </a:rPr>
              <a:t>Бараа хайх, үзэх, сагсалж худалдан авах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2907791"/>
            <a:ext cx="5349240" cy="960120"/>
          </a:xfrm>
          <a:prstGeom prst="roundRect">
            <a:avLst>
              <a:gd name="adj" fmla="val 12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3054096"/>
            <a:ext cx="8229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4B8A6"/>
                </a:solidFill>
                <a:latin typeface="Segoe U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19" y="3054096"/>
            <a:ext cx="41605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AFAFA"/>
                </a:solidFill>
                <a:latin typeface="Segoe UI"/>
              </a:rPr>
              <a:t>Захиалга ба профайл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19" y="3438144"/>
            <a:ext cx="41605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1A1AA"/>
                </a:solidFill>
                <a:latin typeface="Segoe UI"/>
              </a:rPr>
              <a:t>Захиалга хянах, хаяг, хүслийн жагсаалт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032504"/>
            <a:ext cx="5349240" cy="960120"/>
          </a:xfrm>
          <a:prstGeom prst="roundRect">
            <a:avLst>
              <a:gd name="adj" fmla="val 12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4178808"/>
            <a:ext cx="8229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4B8A6"/>
                </a:solidFill>
                <a:latin typeface="Segoe U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4178808"/>
            <a:ext cx="41605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AFAFA"/>
                </a:solidFill>
                <a:latin typeface="Segoe UI"/>
              </a:rPr>
              <a:t>Админ — Хянах самбар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562856"/>
            <a:ext cx="41605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1A1AA"/>
                </a:solidFill>
                <a:latin typeface="Segoe UI"/>
              </a:rPr>
              <a:t>Орлого, статистик, захиалгын төлөв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59" y="4032504"/>
            <a:ext cx="5349240" cy="960120"/>
          </a:xfrm>
          <a:prstGeom prst="roundRect">
            <a:avLst>
              <a:gd name="adj" fmla="val 12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65392" y="4178808"/>
            <a:ext cx="8229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4B8A6"/>
                </a:solidFill>
                <a:latin typeface="Segoe U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19" y="4178808"/>
            <a:ext cx="41605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AFAFA"/>
                </a:solidFill>
                <a:latin typeface="Segoe UI"/>
              </a:rPr>
              <a:t>Админ — Бүтээгдэхүүн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19" y="4562856"/>
            <a:ext cx="41605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1A1AA"/>
                </a:solidFill>
                <a:latin typeface="Segoe UI"/>
              </a:rPr>
              <a:t>Бараа нэмэх, засах, ангилал, онцлох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157216"/>
            <a:ext cx="5349240" cy="960120"/>
          </a:xfrm>
          <a:prstGeom prst="roundRect">
            <a:avLst>
              <a:gd name="adj" fmla="val 12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" y="5303520"/>
            <a:ext cx="8229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4B8A6"/>
                </a:solidFill>
                <a:latin typeface="Segoe UI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5303520"/>
            <a:ext cx="41605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AFAFA"/>
                </a:solidFill>
                <a:latin typeface="Segoe UI"/>
              </a:rPr>
              <a:t>Админ — Захиалга &amp; Санхүү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37360" y="5687568"/>
            <a:ext cx="41605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1A1AA"/>
                </a:solidFill>
                <a:latin typeface="Segoe UI"/>
              </a:rPr>
              <a:t>Захиалга боловсруулах, төлбөр, тайлан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59" y="5157216"/>
            <a:ext cx="5349240" cy="960120"/>
          </a:xfrm>
          <a:prstGeom prst="roundRect">
            <a:avLst>
              <a:gd name="adj" fmla="val 12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65392" y="5303520"/>
            <a:ext cx="8229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4B8A6"/>
                </a:solidFill>
                <a:latin typeface="Segoe UI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60919" y="5303520"/>
            <a:ext cx="41605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AFAFA"/>
                </a:solidFill>
                <a:latin typeface="Segoe UI"/>
              </a:rPr>
              <a:t>Зөвлөмж ба тусламж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19" y="5687568"/>
            <a:ext cx="41605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1A1AA"/>
                </a:solidFill>
                <a:latin typeface="Segoe UI"/>
              </a:rPr>
              <a:t>Түгээмэл асуулт, анхаарах зүйлс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01 · ТАНИЛЦУУЛГА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AFAFA"/>
                </a:solidFill>
                <a:latin typeface="Segoe UI"/>
              </a:rPr>
              <a:t>IShop гэж юу вэ?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48640"/>
            <a:ext cx="822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1717A"/>
                </a:solidFill>
                <a:latin typeface="Segoe U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78992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1A1AA"/>
                </a:solidFill>
                <a:latin typeface="Segoe UI"/>
              </a:rPr>
              <a:t>IShop нь онлайн худалдааны бүрэн систем юм. Хэрэглэгч бараа сонгож худалдан авдаг </a:t>
            </a:r>
            <a:r>
              <a:rPr sz="1500" b="1">
                <a:solidFill>
                  <a:srgbClr val="14B8A6"/>
                </a:solidFill>
                <a:latin typeface="Segoe UI"/>
              </a:rPr>
              <a:t>дэлгүүр</a:t>
            </a:r>
            <a:r>
              <a:rPr sz="1500" b="0">
                <a:solidFill>
                  <a:srgbClr val="A1A1AA"/>
                </a:solidFill>
                <a:latin typeface="Segoe UI"/>
              </a:rPr>
              <a:t> хэсэг, дэлгүүрийг удирддаг </a:t>
            </a:r>
            <a:r>
              <a:rPr sz="1500" b="1">
                <a:solidFill>
                  <a:srgbClr val="14B8A6"/>
                </a:solidFill>
                <a:latin typeface="Segoe UI"/>
              </a:rPr>
              <a:t>админ</a:t>
            </a:r>
            <a:r>
              <a:rPr sz="1500" b="0">
                <a:solidFill>
                  <a:srgbClr val="A1A1AA"/>
                </a:solidFill>
                <a:latin typeface="Segoe UI"/>
              </a:rPr>
              <a:t> хэсэг гэсэн хоёр үндсэн талтай.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34640"/>
            <a:ext cx="5349240" cy="3383280"/>
          </a:xfrm>
          <a:prstGeom prst="roundRect">
            <a:avLst>
              <a:gd name="adj" fmla="val 9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63240"/>
            <a:ext cx="914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B8A6"/>
                </a:solidFill>
                <a:latin typeface="Segoe UI"/>
              </a:rPr>
              <a:t>🛍️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703320"/>
            <a:ext cx="4800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AFAFA"/>
                </a:solidFill>
                <a:latin typeface="Segoe UI"/>
              </a:rPr>
              <a:t>Хэрэглэгчийн хэсэг (дэлгүүр)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160520"/>
            <a:ext cx="4846320" cy="1920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• Бараа хайх, ангиллаар шүүх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• Дэлгэрэнгүй мэдээлэл, зураг үзэх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• Сагсанд нэмж худалдан авах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• QPay-ээр төлбөр төлөх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• Захиалгаа хянах, хаяг хадгалах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• Хүслийн жагсаалт үүсгэх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834640"/>
            <a:ext cx="5120640" cy="3383280"/>
          </a:xfrm>
          <a:prstGeom prst="roundRect">
            <a:avLst>
              <a:gd name="adj" fmla="val 9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3063240"/>
            <a:ext cx="914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8B5CF6"/>
                </a:solidFill>
                <a:latin typeface="Segoe UI"/>
              </a:rPr>
              <a:t>⚙️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703320"/>
            <a:ext cx="45720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AFAFA"/>
                </a:solidFill>
                <a:latin typeface="Segoe UI"/>
              </a:rPr>
              <a:t>Админ хэсэг (удирдлага)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160520"/>
            <a:ext cx="4617720" cy="1920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• Хянах самбар, статистик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• Бараа, ангилал нэмэх/засах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• Захиалга боловсруулах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• Харилцагчдыг удирдах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• Төлбөр, нэхэмжлэл, тайлан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• Мэдэгдэл, тохиргоо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02 · ЭХЛЭЛ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AFAFA"/>
                </a:solidFill>
                <a:latin typeface="Segoe UI"/>
              </a:rPr>
              <a:t>Бүртгүүлэх ба нэвтрэх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48640"/>
            <a:ext cx="822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1717A"/>
                </a:solidFill>
                <a:latin typeface="Segoe UI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5349240" cy="1078992"/>
          </a:xfrm>
          <a:prstGeom prst="roundRect">
            <a:avLst>
              <a:gd name="adj" fmla="val 12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1832" y="2093976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A0A0B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947672"/>
            <a:ext cx="4251959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AFAFA"/>
                </a:solidFill>
                <a:latin typeface="Segoe UI"/>
              </a:rPr>
              <a:t>Бүртгүүлэх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313432"/>
            <a:ext cx="4251959" cy="53035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Нүүр хуудаснаас «Бүртгүүлэх» сонгож, нэр, и-мэйл, нууц үгээ оруулна.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026664"/>
            <a:ext cx="5349240" cy="1078992"/>
          </a:xfrm>
          <a:prstGeom prst="roundRect">
            <a:avLst>
              <a:gd name="adj" fmla="val 12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1832" y="333756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A0A0B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191256"/>
            <a:ext cx="4251959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AFAFA"/>
                </a:solidFill>
                <a:latin typeface="Segoe UI"/>
              </a:rPr>
              <a:t>Нэвтрэх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557016"/>
            <a:ext cx="4251959" cy="53035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И-мэйл, нууц үгээрээ нэвтэрнэ. Амжилттай бол шууд дэлгүүр рүү орно.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270248"/>
            <a:ext cx="5349240" cy="1078992"/>
          </a:xfrm>
          <a:prstGeom prst="roundRect">
            <a:avLst>
              <a:gd name="adj" fmla="val 12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41832" y="4581144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A0A0B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34840"/>
            <a:ext cx="4251959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AFAFA"/>
                </a:solidFill>
                <a:latin typeface="Segoe UI"/>
              </a:rPr>
              <a:t>Нууц үг сэргээх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800600"/>
            <a:ext cx="4251959" cy="53035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Мартсан бол «Нууц үг сэргээх»-ээр и-мэйлээр код авч шинэчилнэ.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1783080"/>
            <a:ext cx="5120640" cy="4434840"/>
          </a:xfrm>
          <a:prstGeom prst="roundRect">
            <a:avLst>
              <a:gd name="adj" fmla="val 7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057400"/>
            <a:ext cx="45720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B8A6"/>
                </a:solidFill>
                <a:latin typeface="Segoe UI"/>
              </a:rPr>
              <a:t>💡 Анхаарах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606040"/>
            <a:ext cx="4526280" cy="3474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A1A1AA"/>
                </a:solidFill>
                <a:latin typeface="Segoe UI"/>
              </a:rPr>
              <a:t>• И-мэйл хаяг зөв, идэвхтэй байх ёстой — баталгаажуулалт, мэдэгдэл ирнэ.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A1A1AA"/>
                </a:solidFill>
                <a:latin typeface="Segoe UI"/>
              </a:rPr>
              <a:t>• Нууц үгээ найдвартай (8+ тэмдэгт) сонгоно.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A1A1AA"/>
                </a:solidFill>
                <a:latin typeface="Segoe UI"/>
              </a:rPr>
              <a:t>• Нэг бүртгэлээр олон төхөөрөмжөөс нэвтэрч болно («Төхөөрөмжүүд» хэсэг).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A1A1AA"/>
                </a:solidFill>
                <a:latin typeface="Segoe UI"/>
              </a:rPr>
              <a:t>• Админ эрхтэй бол нэвтрэхэд автоматаар админ хэсэг рүү шилжинэ.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02 · ЭХЛЭЛ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AFAFA"/>
                </a:solidFill>
                <a:latin typeface="Segoe UI"/>
              </a:rPr>
              <a:t>Нэвтрэх / бүртгүүлэх дэлгэц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48640"/>
            <a:ext cx="822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1717A"/>
                </a:solidFill>
                <a:latin typeface="Segoe UI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91640" y="1783080"/>
            <a:ext cx="8778240" cy="411480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691640" y="1783080"/>
            <a:ext cx="8778240" cy="329184"/>
          </a:xfrm>
          <a:prstGeom prst="roundRect">
            <a:avLst>
              <a:gd name="adj" fmla="val 4000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9280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75688" y="1892807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58568" y="1892807"/>
            <a:ext cx="100584" cy="100584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935" y="2203704"/>
            <a:ext cx="4967649" cy="36027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91640" y="6007608"/>
            <a:ext cx="8778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A1A1AA"/>
                </a:solidFill>
                <a:latin typeface="Segoe UI"/>
              </a:rPr>
              <a:t>› Нэвтрэх ба бүртгүүлэх хуудас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03 · ХЭРЭГЛЭГЧ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AFAFA"/>
                </a:solidFill>
                <a:latin typeface="Segoe UI"/>
              </a:rPr>
              <a:t>Бараа хайх ба үзэх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48640"/>
            <a:ext cx="822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1717A"/>
                </a:solidFill>
                <a:latin typeface="Segoe UI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3429000" cy="4434840"/>
          </a:xfrm>
          <a:prstGeom prst="roundRect">
            <a:avLst>
              <a:gd name="adj" fmla="val 9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914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B8A6"/>
                </a:solidFill>
                <a:latin typeface="Segoe UI"/>
              </a:rPr>
              <a:t>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51760"/>
            <a:ext cx="2880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AFAFA"/>
                </a:solidFill>
                <a:latin typeface="Segoe UI"/>
              </a:rPr>
              <a:t>Нүүр хуудас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08960"/>
            <a:ext cx="2926080" cy="297179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Онцлох бараа, шилдэг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ангилал, статистик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харагдана.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Дээд хэсгийн хайлтын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талбараас нэр, тайлбар,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ангиллаар хайна.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83080"/>
            <a:ext cx="3429000" cy="4434840"/>
          </a:xfrm>
          <a:prstGeom prst="roundRect">
            <a:avLst>
              <a:gd name="adj" fmla="val 9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011680"/>
            <a:ext cx="914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3B82F6"/>
                </a:solidFill>
                <a:latin typeface="Segoe UI"/>
              </a:rPr>
              <a:t>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651760"/>
            <a:ext cx="2880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AFAFA"/>
                </a:solidFill>
                <a:latin typeface="Segoe UI"/>
              </a:rPr>
              <a:t>Хайх &amp; шүүх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108960"/>
            <a:ext cx="2926080" cy="297179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Ангиллаар шүүж, нэрээр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хайж барааг хурдан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олно.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Үр дүн шууд шинэчлэгдэж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тохирох бараанууд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жагсаалтаар гарна.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783080"/>
            <a:ext cx="3474720" cy="4434840"/>
          </a:xfrm>
          <a:prstGeom prst="roundRect">
            <a:avLst>
              <a:gd name="adj" fmla="val 9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011680"/>
            <a:ext cx="914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59E0B"/>
                </a:solidFill>
                <a:latin typeface="Segoe UI"/>
              </a:rPr>
              <a:t>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651760"/>
            <a:ext cx="2926079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AFAFA"/>
                </a:solidFill>
                <a:latin typeface="Segoe UI"/>
              </a:rPr>
              <a:t>Дэлгэрэнгүй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108960"/>
            <a:ext cx="2971800" cy="297179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Барааны зураг, үнэ,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тайлбар, нөөцийг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харна.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Тоо ширхэг сонгож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«Сагсанд нэмэх» эсвэл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хүслийн жагсаалтад нэмнэ.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03 · ХЭРЭГЛЭГЧ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AFAFA"/>
                </a:solidFill>
                <a:latin typeface="Segoe UI"/>
              </a:rPr>
              <a:t>Дэлгүүрийн дэлгэцүүд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48640"/>
            <a:ext cx="822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1717A"/>
                </a:solidFill>
                <a:latin typeface="Segoe UI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5212080" cy="393192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5212080" cy="329184"/>
          </a:xfrm>
          <a:prstGeom prst="roundRect">
            <a:avLst>
              <a:gd name="adj" fmla="val 4000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69848" y="1892807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52728" y="1892807"/>
            <a:ext cx="100584" cy="100584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user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66252"/>
            <a:ext cx="5029200" cy="249475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5800" y="5824728"/>
            <a:ext cx="5212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A1A1AA"/>
                </a:solidFill>
                <a:latin typeface="Segoe UI"/>
              </a:rPr>
              <a:t>› Дэлгүүр — барааны жагсаалт, хайлт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783080"/>
            <a:ext cx="5212080" cy="393192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1783080"/>
            <a:ext cx="5212080" cy="329184"/>
          </a:xfrm>
          <a:prstGeom prst="roundRect">
            <a:avLst>
              <a:gd name="adj" fmla="val 4000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01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784848" y="1892807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67728" y="1892807"/>
            <a:ext cx="100584" cy="100584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product_detai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670920"/>
            <a:ext cx="5029200" cy="248542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0" y="5824728"/>
            <a:ext cx="5212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A1A1AA"/>
                </a:solidFill>
                <a:latin typeface="Segoe UI"/>
              </a:rPr>
              <a:t>› Барааны дэлгэрэнгүй хуудас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03 · ХЭРЭГЛЭГЧ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AFAFA"/>
                </a:solidFill>
                <a:latin typeface="Segoe UI"/>
              </a:rPr>
              <a:t>Хувилбартай бараа сонгох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48640"/>
            <a:ext cx="822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1717A"/>
                </a:solidFill>
                <a:latin typeface="Segoe UI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3429000" cy="4434840"/>
          </a:xfrm>
          <a:prstGeom prst="roundRect">
            <a:avLst>
              <a:gd name="adj" fmla="val 9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914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B8A6"/>
                </a:solidFill>
                <a:latin typeface="Segoe UI"/>
              </a:rPr>
              <a:t>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51760"/>
            <a:ext cx="2880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AFAFA"/>
                </a:solidFill>
                <a:latin typeface="Segoe UI"/>
              </a:rPr>
              <a:t>Өнгө / хэмжээ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08960"/>
            <a:ext cx="2926080" cy="297179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Нэг бараа олон өнгө,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хэмжээ, материал,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загвартай байж болно.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Товчлуураар хүссэн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хувилбараа сонгоно.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83080"/>
            <a:ext cx="3429000" cy="4434840"/>
          </a:xfrm>
          <a:prstGeom prst="roundRect">
            <a:avLst>
              <a:gd name="adj" fmla="val 9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011680"/>
            <a:ext cx="914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3B82F6"/>
                </a:solidFill>
                <a:latin typeface="Segoe UI"/>
              </a:rPr>
              <a:t>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651760"/>
            <a:ext cx="2880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AFAFA"/>
                </a:solidFill>
                <a:latin typeface="Segoe UI"/>
              </a:rPr>
              <a:t>Бодит нөөц &amp; үнэ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108960"/>
            <a:ext cx="2926080" cy="297179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Сонгосон хослолын нөөц,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үнэ шууд шинэчлэгдэнэ.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Боломжгүй хослолыг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автоматаар тохирох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хувилбар руу тааруулна.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783080"/>
            <a:ext cx="3474720" cy="4434840"/>
          </a:xfrm>
          <a:prstGeom prst="roundRect">
            <a:avLst>
              <a:gd name="adj" fmla="val 9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011680"/>
            <a:ext cx="914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59E0B"/>
                </a:solidFill>
                <a:latin typeface="Segoe UI"/>
              </a:rPr>
              <a:t>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651760"/>
            <a:ext cx="2926079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AFAFA"/>
                </a:solidFill>
                <a:latin typeface="Segoe UI"/>
              </a:rPr>
              <a:t>Онцлог шинж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108960"/>
            <a:ext cx="2971800" cy="297179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WiFi, Bluetooth, Type-C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зэрэг нэмэлт шинжийг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доор харуулна.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Сонгоод «Сагсанд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нэмэх» дарна.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03 · ХЭРЭГЛЭГЧ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AFAFA"/>
                </a:solidFill>
                <a:latin typeface="Segoe UI"/>
              </a:rPr>
              <a:t>Барааны дэлгэрэнгүй — хувилбар сонгох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48640"/>
            <a:ext cx="822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1717A"/>
                </a:solidFill>
                <a:latin typeface="Segoe UI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91640" y="1783080"/>
            <a:ext cx="8778240" cy="411480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691640" y="1783080"/>
            <a:ext cx="8778240" cy="329184"/>
          </a:xfrm>
          <a:prstGeom prst="roundRect">
            <a:avLst>
              <a:gd name="adj" fmla="val 4000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9280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75688" y="1892807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58568" y="1892807"/>
            <a:ext cx="100584" cy="100584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roduct_details_new_u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033" y="2203704"/>
            <a:ext cx="7247453" cy="36027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91640" y="6007608"/>
            <a:ext cx="8778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A1A1AA"/>
                </a:solidFill>
                <a:latin typeface="Segoe UI"/>
              </a:rPr>
              <a:t>› Өнгө, хэмжээ, материал сонгоход нөөц, үнэ шинэчлэгдэнэ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03 · ХЭРЭГЛЭГЧ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AFAFA"/>
                </a:solidFill>
                <a:latin typeface="Segoe UI"/>
              </a:rPr>
              <a:t>Сагс ба худалдан авалт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48640"/>
            <a:ext cx="822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1717A"/>
                </a:solidFill>
                <a:latin typeface="Segoe U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6400800" cy="1078992"/>
          </a:xfrm>
          <a:prstGeom prst="roundRect">
            <a:avLst>
              <a:gd name="adj" fmla="val 12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1832" y="2093976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A0A0B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947672"/>
            <a:ext cx="5303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AFAFA"/>
                </a:solidFill>
                <a:latin typeface="Segoe UI"/>
              </a:rPr>
              <a:t>Сагсанд нэмэх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313432"/>
            <a:ext cx="5303520" cy="53035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Барааг тоо ширхэгтэйгээр сагсанд нэмнэ.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926080"/>
            <a:ext cx="6400800" cy="1078992"/>
          </a:xfrm>
          <a:prstGeom prst="roundRect">
            <a:avLst>
              <a:gd name="adj" fmla="val 12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1832" y="3236976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A0A0B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090672"/>
            <a:ext cx="5303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AFAFA"/>
                </a:solidFill>
                <a:latin typeface="Segoe UI"/>
              </a:rPr>
              <a:t>Сагс шалгах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456432"/>
            <a:ext cx="5303520" cy="53035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Сагсан дахь бараа, тоо, нийт дүнг хянана.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069080"/>
            <a:ext cx="6400800" cy="1078992"/>
          </a:xfrm>
          <a:prstGeom prst="roundRect">
            <a:avLst>
              <a:gd name="adj" fmla="val 12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41832" y="4379976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A0A0B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233672"/>
            <a:ext cx="5303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AFAFA"/>
                </a:solidFill>
                <a:latin typeface="Segoe UI"/>
              </a:rPr>
              <a:t>Хаяг сонгох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599432"/>
            <a:ext cx="5303520" cy="53035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Хүргэлтийн хаягаа оруулах буюу сонгоно.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212080"/>
            <a:ext cx="6400800" cy="1078992"/>
          </a:xfrm>
          <a:prstGeom prst="roundRect">
            <a:avLst>
              <a:gd name="adj" fmla="val 12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1832" y="5522976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A0A0B"/>
                </a:solidFill>
                <a:latin typeface="Sego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5376672"/>
            <a:ext cx="5303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AFAFA"/>
                </a:solidFill>
                <a:latin typeface="Segoe UI"/>
              </a:rPr>
              <a:t>Төлбөр төлөх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5742432"/>
            <a:ext cx="5303520" cy="53035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QPay-ээр төлбөрөө төлж захиалгаа баталгаажуулна.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1783080"/>
            <a:ext cx="4069080" cy="4434840"/>
          </a:xfrm>
          <a:prstGeom prst="roundRect">
            <a:avLst>
              <a:gd name="adj" fmla="val 7000"/>
            </a:avLst>
          </a:prstGeom>
          <a:solidFill>
            <a:srgbClr val="18181B"/>
          </a:solidFill>
          <a:ln w="15875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2057400"/>
            <a:ext cx="3474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B8A6"/>
                </a:solidFill>
                <a:latin typeface="Segoe UI"/>
              </a:rPr>
              <a:t>🧾 Төлбөрийн урсгал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2697480"/>
            <a:ext cx="3474720" cy="3383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0">
                <a:solidFill>
                  <a:srgbClr val="A1A1AA"/>
                </a:solidFill>
                <a:latin typeface="Segoe UI"/>
              </a:rPr>
              <a:t>Худалдан авалт 4 алхамтай: сагс → хаяг → төлбөр → баталгаажуулалт.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0">
                <a:solidFill>
                  <a:srgbClr val="A1A1AA"/>
                </a:solidFill>
                <a:latin typeface="Segoe UI"/>
              </a:rPr>
              <a:t>QPay-ийн QR кодыг банкны аппаар уншуулж төлнө.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0">
                <a:solidFill>
                  <a:srgbClr val="A1A1AA"/>
                </a:solidFill>
                <a:latin typeface="Segoe UI"/>
              </a:rPr>
              <a:t>Төлбөр амжилттай бол захиалга «Хүлээгдэж буй» төлөвт орж, админд мэдэгдэнэ.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03 · ХЭРЭГЛЭГЧ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AFAFA"/>
                </a:solidFill>
                <a:latin typeface="Segoe UI"/>
              </a:rPr>
              <a:t>Сагс ба хаяг сонгох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48640"/>
            <a:ext cx="822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1717A"/>
                </a:solidFill>
                <a:latin typeface="Segoe U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5212080" cy="393192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5212080" cy="329184"/>
          </a:xfrm>
          <a:prstGeom prst="roundRect">
            <a:avLst>
              <a:gd name="adj" fmla="val 4000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69848" y="1892807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52728" y="1892807"/>
            <a:ext cx="100584" cy="100584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86517"/>
            <a:ext cx="5029200" cy="24542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5800" y="5824728"/>
            <a:ext cx="5212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A1A1AA"/>
                </a:solidFill>
                <a:latin typeface="Segoe UI"/>
              </a:rPr>
              <a:t>› Сагс — бараа, тоо, нийт дүн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783080"/>
            <a:ext cx="5212080" cy="393192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1783080"/>
            <a:ext cx="5212080" cy="329184"/>
          </a:xfrm>
          <a:prstGeom prst="roundRect">
            <a:avLst>
              <a:gd name="adj" fmla="val 4000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01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784848" y="1892807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67728" y="1892807"/>
            <a:ext cx="100584" cy="100584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address_pick_st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824" y="2203704"/>
            <a:ext cx="2392030" cy="341985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0" y="5824728"/>
            <a:ext cx="5212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A1A1AA"/>
                </a:solidFill>
                <a:latin typeface="Segoe UI"/>
              </a:rPr>
              <a:t>› Хүргэлтийн хаяг сонгох алхам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03 · ХЭРЭГЛЭГЧ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AFAFA"/>
                </a:solidFill>
                <a:latin typeface="Segoe UI"/>
              </a:rPr>
              <a:t>Төлбөр төлөх алхам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48640"/>
            <a:ext cx="822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1717A"/>
                </a:solidFill>
                <a:latin typeface="Segoe U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5212080" cy="393192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5212080" cy="329184"/>
          </a:xfrm>
          <a:prstGeom prst="roundRect">
            <a:avLst>
              <a:gd name="adj" fmla="val 4000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69848" y="1892807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52728" y="1892807"/>
            <a:ext cx="100584" cy="100584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ayment_method_st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021" y="2203704"/>
            <a:ext cx="3117636" cy="34198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5800" y="5824728"/>
            <a:ext cx="5212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A1A1AA"/>
                </a:solidFill>
                <a:latin typeface="Segoe UI"/>
              </a:rPr>
              <a:t>› Төлбөрийн хэлбэр сонгох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783080"/>
            <a:ext cx="5212080" cy="393192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1783080"/>
            <a:ext cx="5212080" cy="329184"/>
          </a:xfrm>
          <a:prstGeom prst="roundRect">
            <a:avLst>
              <a:gd name="adj" fmla="val 4000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01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784848" y="1892807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67728" y="1892807"/>
            <a:ext cx="100584" cy="100584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qpay_st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348" y="2203704"/>
            <a:ext cx="1188982" cy="341985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0" y="5824728"/>
            <a:ext cx="5212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A1A1AA"/>
                </a:solidFill>
                <a:latin typeface="Segoe UI"/>
              </a:rPr>
              <a:t>› QPay QR кодоор төлөх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04 · ХЭРЭГЛЭГЧ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AFAFA"/>
                </a:solidFill>
                <a:latin typeface="Segoe UI"/>
              </a:rPr>
              <a:t>Захиалга &amp; хувийн мэдээлэл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48640"/>
            <a:ext cx="822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1717A"/>
                </a:solidFill>
                <a:latin typeface="Segoe U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3429000" cy="2103120"/>
          </a:xfrm>
          <a:prstGeom prst="roundRect">
            <a:avLst>
              <a:gd name="adj" fmla="val 9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914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B8A6"/>
                </a:solidFill>
                <a:latin typeface="Segoe UI"/>
              </a:rPr>
              <a:t>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51760"/>
            <a:ext cx="2880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AFAFA"/>
                </a:solidFill>
                <a:latin typeface="Segoe UI"/>
              </a:rPr>
              <a:t>Захиалгууд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08960"/>
            <a:ext cx="2926080" cy="64007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Захиалгын түүх,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төлөв, дэлгэрэнгүйг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хянана.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1783080"/>
            <a:ext cx="3429000" cy="2103120"/>
          </a:xfrm>
          <a:prstGeom prst="roundRect">
            <a:avLst>
              <a:gd name="adj" fmla="val 9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2011680"/>
            <a:ext cx="914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43F5E"/>
                </a:solidFill>
                <a:latin typeface="Segoe UI"/>
              </a:rPr>
              <a:t>❤️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651760"/>
            <a:ext cx="2880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AFAFA"/>
                </a:solidFill>
                <a:latin typeface="Segoe UI"/>
              </a:rPr>
              <a:t>Хүслийн жагсаалт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3108960"/>
            <a:ext cx="2926080" cy="64007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Дараа авах барааг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хадгалж, шууд сагсанд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шилжүүлнэ.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72983" y="1783080"/>
            <a:ext cx="3429000" cy="2103120"/>
          </a:xfrm>
          <a:prstGeom prst="roundRect">
            <a:avLst>
              <a:gd name="adj" fmla="val 9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7304" y="2011680"/>
            <a:ext cx="914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3B82F6"/>
                </a:solidFill>
                <a:latin typeface="Segoe UI"/>
              </a:rPr>
              <a:t>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651760"/>
            <a:ext cx="2880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AFAFA"/>
                </a:solidFill>
                <a:latin typeface="Segoe UI"/>
              </a:rPr>
              <a:t>Хаяг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47304" y="3108960"/>
            <a:ext cx="2926080" cy="64007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Хүргэлтийн хаягаа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хадгалж, газрын зураг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дээр тэмдэглэнэ.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069080"/>
            <a:ext cx="3429000" cy="2103120"/>
          </a:xfrm>
          <a:prstGeom prst="roundRect">
            <a:avLst>
              <a:gd name="adj" fmla="val 9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297680"/>
            <a:ext cx="914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59E0B"/>
                </a:solidFill>
                <a:latin typeface="Segoe UI"/>
              </a:rPr>
              <a:t>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937760"/>
            <a:ext cx="2880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AFAFA"/>
                </a:solidFill>
                <a:latin typeface="Segoe UI"/>
              </a:rPr>
              <a:t>Мэдэгдэл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394960"/>
            <a:ext cx="2926080" cy="64007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Захиалга, урамшууллын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мэдэгдлийг хүлээн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авна.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79392" y="4069080"/>
            <a:ext cx="3429000" cy="2103120"/>
          </a:xfrm>
          <a:prstGeom prst="roundRect">
            <a:avLst>
              <a:gd name="adj" fmla="val 9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4297680"/>
            <a:ext cx="914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8B5CF6"/>
                </a:solidFill>
                <a:latin typeface="Segoe UI"/>
              </a:rPr>
              <a:t>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4937760"/>
            <a:ext cx="2880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AFAFA"/>
                </a:solidFill>
                <a:latin typeface="Segoe UI"/>
              </a:rPr>
              <a:t>Профайл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5394960"/>
            <a:ext cx="2926080" cy="64007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Нэр, зураг, мэдээллээ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засварлана.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72983" y="4069080"/>
            <a:ext cx="3429000" cy="2103120"/>
          </a:xfrm>
          <a:prstGeom prst="roundRect">
            <a:avLst>
              <a:gd name="adj" fmla="val 9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47304" y="4297680"/>
            <a:ext cx="914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5EEAD4"/>
                </a:solidFill>
                <a:latin typeface="Segoe UI"/>
              </a:rPr>
              <a:t>⚙️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47304" y="4937760"/>
            <a:ext cx="2880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AFAFA"/>
                </a:solidFill>
                <a:latin typeface="Segoe UI"/>
              </a:rPr>
              <a:t>Тохиргоо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47304" y="5394960"/>
            <a:ext cx="2926080" cy="64007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Нууц үг, төхөөрөмж,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хэл, харагдацыг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тохируулна.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04 · ХЭРЭГЛЭГЧ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AFAFA"/>
                </a:solidFill>
                <a:latin typeface="Segoe UI"/>
              </a:rPr>
              <a:t>Захиалгын түүх ба дэлгэрэнгүй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48640"/>
            <a:ext cx="822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1717A"/>
                </a:solidFill>
                <a:latin typeface="Segoe UI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5212080" cy="393192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5212080" cy="329184"/>
          </a:xfrm>
          <a:prstGeom prst="roundRect">
            <a:avLst>
              <a:gd name="adj" fmla="val 4000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69848" y="1892807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52728" y="1892807"/>
            <a:ext cx="100584" cy="100584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user_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77953"/>
            <a:ext cx="5029200" cy="247135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5800" y="5824728"/>
            <a:ext cx="5212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A1A1AA"/>
                </a:solidFill>
                <a:latin typeface="Segoe UI"/>
              </a:rPr>
              <a:t>› Миний захиалгууд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783080"/>
            <a:ext cx="5212080" cy="393192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1783080"/>
            <a:ext cx="5212080" cy="329184"/>
          </a:xfrm>
          <a:prstGeom prst="roundRect">
            <a:avLst>
              <a:gd name="adj" fmla="val 4000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01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784848" y="1892807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67728" y="1892807"/>
            <a:ext cx="100584" cy="100584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user_order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670250"/>
            <a:ext cx="5029200" cy="248676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0" y="5824728"/>
            <a:ext cx="5212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A1A1AA"/>
                </a:solidFill>
                <a:latin typeface="Segoe UI"/>
              </a:rPr>
              <a:t>› Захиалгын дэлгэрэнгүй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04 · ХЭРЭГЛЭГЧ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AFAFA"/>
                </a:solidFill>
                <a:latin typeface="Segoe UI"/>
              </a:rPr>
              <a:t>Салбар, байршлууд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48640"/>
            <a:ext cx="822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1717A"/>
                </a:solidFill>
                <a:latin typeface="Segoe U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107899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1A1AA"/>
                </a:solidFill>
                <a:latin typeface="Segoe UI"/>
              </a:rPr>
              <a:t>Дэлгүүрийн салбаруудыг </a:t>
            </a:r>
            <a:r>
              <a:rPr sz="1400" b="1">
                <a:solidFill>
                  <a:srgbClr val="14B8A6"/>
                </a:solidFill>
                <a:latin typeface="Segoe UI"/>
              </a:rPr>
              <a:t>«Салбарууд»</a:t>
            </a:r>
            <a:r>
              <a:rPr sz="1400" b="0">
                <a:solidFill>
                  <a:srgbClr val="A1A1AA"/>
                </a:solidFill>
                <a:latin typeface="Segoe UI"/>
              </a:rPr>
              <a:t> хуудаснаас үзнэ. Дээд талын товчоор </a:t>
            </a:r>
            <a:r>
              <a:rPr sz="1400" b="1">
                <a:solidFill>
                  <a:srgbClr val="14B8A6"/>
                </a:solidFill>
                <a:latin typeface="Segoe UI"/>
              </a:rPr>
              <a:t>жагсаалт</a:t>
            </a:r>
            <a:r>
              <a:rPr sz="1400" b="0">
                <a:solidFill>
                  <a:srgbClr val="A1A1AA"/>
                </a:solidFill>
                <a:latin typeface="Segoe UI"/>
              </a:rPr>
              <a:t> эсвэл </a:t>
            </a:r>
            <a:r>
              <a:rPr sz="1400" b="1">
                <a:solidFill>
                  <a:srgbClr val="14B8A6"/>
                </a:solidFill>
                <a:latin typeface="Segoe UI"/>
              </a:rPr>
              <a:t>газрын зураг</a:t>
            </a:r>
            <a:r>
              <a:rPr sz="1400" b="0">
                <a:solidFill>
                  <a:srgbClr val="A1A1AA"/>
                </a:solidFill>
                <a:latin typeface="Segoe UI"/>
              </a:rPr>
              <a:t> хэлбэрээр сэлгэнэ.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97480"/>
            <a:ext cx="5349240" cy="3520440"/>
          </a:xfrm>
          <a:prstGeom prst="roundRect">
            <a:avLst>
              <a:gd name="adj" fmla="val 9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26080"/>
            <a:ext cx="914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B8A6"/>
                </a:solidFill>
                <a:latin typeface="Segoe UI"/>
              </a:rPr>
              <a:t>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566160"/>
            <a:ext cx="4800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AFAFA"/>
                </a:solidFill>
                <a:latin typeface="Segoe UI"/>
              </a:rPr>
              <a:t>Жагсаалт хэлбэр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023360"/>
            <a:ext cx="4846320" cy="2057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Салбар бүрийн нэр, хаяг,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утсыг карт хэлбэрээр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харна.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«Газрын зураг дээр харах»-аар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тухайн салбарын байршлыг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шууд нээнэ.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697480"/>
            <a:ext cx="5120640" cy="3520440"/>
          </a:xfrm>
          <a:prstGeom prst="roundRect">
            <a:avLst>
              <a:gd name="adj" fmla="val 9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926080"/>
            <a:ext cx="914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3B82F6"/>
                </a:solidFill>
                <a:latin typeface="Segoe UI"/>
              </a:rPr>
              <a:t>🗺️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566160"/>
            <a:ext cx="45720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AFAFA"/>
                </a:solidFill>
                <a:latin typeface="Segoe UI"/>
              </a:rPr>
              <a:t>Газрын зураг хэлбэр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023360"/>
            <a:ext cx="4617720" cy="2057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Бүх салбарыг Google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газрын зураг дээр пин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болгон харуулна.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Пин дээр дарж нэр, хаяг,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утсыг шууд харна.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04 · ХЭРЭГЛЭГЧ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AFAFA"/>
                </a:solidFill>
                <a:latin typeface="Segoe UI"/>
              </a:rPr>
              <a:t>Салбарууд — жагсаалт ба газрын зураг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48640"/>
            <a:ext cx="822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1717A"/>
                </a:solidFill>
                <a:latin typeface="Segoe UI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5212080" cy="393192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5212080" cy="329184"/>
          </a:xfrm>
          <a:prstGeom prst="roundRect">
            <a:avLst>
              <a:gd name="adj" fmla="val 4000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69848" y="1892807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52728" y="1892807"/>
            <a:ext cx="100584" cy="100584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user_see_branches_card_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27832"/>
            <a:ext cx="5029200" cy="2371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5800" y="5824728"/>
            <a:ext cx="5212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A1A1AA"/>
                </a:solidFill>
                <a:latin typeface="Segoe UI"/>
              </a:rPr>
              <a:t>› Жагсаалт хэлбэр — салбарын картууд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783080"/>
            <a:ext cx="5212080" cy="393192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1783080"/>
            <a:ext cx="5212080" cy="329184"/>
          </a:xfrm>
          <a:prstGeom prst="roundRect">
            <a:avLst>
              <a:gd name="adj" fmla="val 4000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01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784848" y="1892807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67728" y="1892807"/>
            <a:ext cx="100584" cy="100584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user_see_branches_map_m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523329"/>
            <a:ext cx="5029200" cy="278060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0" y="5824728"/>
            <a:ext cx="5212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A1A1AA"/>
                </a:solidFill>
                <a:latin typeface="Segoe UI"/>
              </a:rPr>
              <a:t>› Газрын зураг хэлбэр — Google Maps пин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05 · АДМИН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AFAFA"/>
                </a:solidFill>
                <a:latin typeface="Segoe UI"/>
              </a:rPr>
              <a:t>Хянах самбар (Dashboard)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48640"/>
            <a:ext cx="822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1717A"/>
                </a:solidFill>
                <a:latin typeface="Segoe U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1078992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1A1AA"/>
                </a:solidFill>
                <a:latin typeface="Segoe UI"/>
              </a:rPr>
              <a:t>Админ эрхээр нэвтрэхэд </a:t>
            </a:r>
            <a:r>
              <a:rPr sz="1400" b="1">
                <a:solidFill>
                  <a:srgbClr val="14B8A6"/>
                </a:solidFill>
                <a:latin typeface="Segoe UI"/>
              </a:rPr>
              <a:t>ISHOP ADMIN</a:t>
            </a:r>
            <a:r>
              <a:rPr sz="1400" b="0">
                <a:solidFill>
                  <a:srgbClr val="A1A1AA"/>
                </a:solidFill>
                <a:latin typeface="Segoe UI"/>
              </a:rPr>
              <a:t> удирдлагын самбар нээгдэнэ. Зүүн талын цэснээс бүх хэсэгт шилжинэ.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514600"/>
            <a:ext cx="2578608" cy="1371600"/>
          </a:xfrm>
          <a:prstGeom prst="roundRect">
            <a:avLst>
              <a:gd name="adj" fmla="val 14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697480"/>
            <a:ext cx="914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B8A6"/>
                </a:solidFill>
                <a:latin typeface="Segoe UI"/>
              </a:rPr>
              <a:t>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337560"/>
            <a:ext cx="21945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AFAFA"/>
                </a:solidFill>
                <a:latin typeface="Segoe UI"/>
              </a:rPr>
              <a:t>Нийт орлого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2514600"/>
            <a:ext cx="2578608" cy="1371600"/>
          </a:xfrm>
          <a:prstGeom prst="roundRect">
            <a:avLst>
              <a:gd name="adj" fmla="val 14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697480"/>
            <a:ext cx="914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B82F6"/>
                </a:solidFill>
                <a:latin typeface="Segoe UI"/>
              </a:rPr>
              <a:t>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337560"/>
            <a:ext cx="21945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AFAFA"/>
                </a:solidFill>
                <a:latin typeface="Segoe UI"/>
              </a:rPr>
              <a:t>Нийт захиалга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2514600"/>
            <a:ext cx="2578608" cy="1371600"/>
          </a:xfrm>
          <a:prstGeom prst="roundRect">
            <a:avLst>
              <a:gd name="adj" fmla="val 14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697480"/>
            <a:ext cx="914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8B5CF6"/>
                </a:solidFill>
                <a:latin typeface="Segoe UI"/>
              </a:rPr>
              <a:t>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3337560"/>
            <a:ext cx="21945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AFAFA"/>
                </a:solidFill>
                <a:latin typeface="Segoe UI"/>
              </a:rPr>
              <a:t>Хэрэглэгчид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70264" y="2514600"/>
            <a:ext cx="2578608" cy="1371600"/>
          </a:xfrm>
          <a:prstGeom prst="roundRect">
            <a:avLst>
              <a:gd name="adj" fmla="val 14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2697480"/>
            <a:ext cx="914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59E0B"/>
                </a:solidFill>
                <a:latin typeface="Segoe UI"/>
              </a:rPr>
              <a:t>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6296" y="3337560"/>
            <a:ext cx="21945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AFAFA"/>
                </a:solidFill>
                <a:latin typeface="Segoe UI"/>
              </a:rPr>
              <a:t>Нийт бараа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114800"/>
            <a:ext cx="6766560" cy="210312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343400"/>
            <a:ext cx="6035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B8A6"/>
                </a:solidFill>
                <a:latin typeface="Segoe UI"/>
              </a:rPr>
              <a:t>📊 Самбарт харагдах зүйлс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892040"/>
            <a:ext cx="612648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A1A1AA"/>
                </a:solidFill>
                <a:latin typeface="Segoe UI"/>
              </a:rPr>
              <a:t>• Орлогын график (огноогоор шүүж болно)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A1A1AA"/>
                </a:solidFill>
                <a:latin typeface="Segoe UI"/>
              </a:rPr>
              <a:t>• Захиалгын төлөв (хүлээгдэж буй / хүргэгдсэн)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A1A1AA"/>
                </a:solidFill>
                <a:latin typeface="Segoe UI"/>
              </a:rPr>
              <a:t>• Шилдэг борлуулалттай бараа ба сүүлийн захиалгууд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0" y="4114800"/>
            <a:ext cx="3794760" cy="210312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4343400"/>
            <a:ext cx="3200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59E0B"/>
                </a:solidFill>
                <a:latin typeface="Segoe UI"/>
              </a:rPr>
              <a:t>⏳ Хурдан анхаарал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4892040"/>
            <a:ext cx="320040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A1A1AA"/>
                </a:solidFill>
                <a:latin typeface="Segoe UI"/>
              </a:rPr>
              <a:t>Хүлээгдэж буй захиалга байвал шар сэрэмжлүүлэг гарч, дарахад шууд «Захиалгууд» руу шилжинэ.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05 · АДМИН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AFAFA"/>
                </a:solidFill>
                <a:latin typeface="Segoe UI"/>
              </a:rPr>
              <a:t>Админ хянах самбар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48640"/>
            <a:ext cx="822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1717A"/>
                </a:solidFill>
                <a:latin typeface="Segoe UI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91640" y="1783080"/>
            <a:ext cx="8778240" cy="411480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691640" y="1783080"/>
            <a:ext cx="8778240" cy="329184"/>
          </a:xfrm>
          <a:prstGeom prst="roundRect">
            <a:avLst>
              <a:gd name="adj" fmla="val 4000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9280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75688" y="1892807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58568" y="1892807"/>
            <a:ext cx="100584" cy="100584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737" y="2203704"/>
            <a:ext cx="7282044" cy="36027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91640" y="6007608"/>
            <a:ext cx="8778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A1A1AA"/>
                </a:solidFill>
                <a:latin typeface="Segoe UI"/>
              </a:rPr>
              <a:t>› Хянах самбар — статистик ба график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06 · АДМИН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AFAFA"/>
                </a:solidFill>
                <a:latin typeface="Segoe UI"/>
              </a:rPr>
              <a:t>Бүтээгдэхүүний удирдлага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48640"/>
            <a:ext cx="822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1717A"/>
                </a:solidFill>
                <a:latin typeface="Segoe UI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2606040" cy="3108960"/>
          </a:xfrm>
          <a:prstGeom prst="roundRect">
            <a:avLst>
              <a:gd name="adj" fmla="val 9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914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B8A6"/>
                </a:solidFill>
                <a:latin typeface="Segoe UI"/>
              </a:rPr>
              <a:t>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43200"/>
            <a:ext cx="2057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AFAFA"/>
                </a:solidFill>
                <a:latin typeface="Segoe UI"/>
              </a:rPr>
              <a:t>Жагсаалт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00400"/>
            <a:ext cx="2103120" cy="164591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Бүх барааг харах,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хайх, засах, устгах.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1874519"/>
            <a:ext cx="2606040" cy="3108960"/>
          </a:xfrm>
          <a:prstGeom prst="roundRect">
            <a:avLst>
              <a:gd name="adj" fmla="val 9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5032" y="2103120"/>
            <a:ext cx="914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3B82F6"/>
                </a:solidFill>
                <a:latin typeface="Segoe UI"/>
              </a:rPr>
              <a:t>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2743200"/>
            <a:ext cx="2057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AFAFA"/>
                </a:solidFill>
                <a:latin typeface="Segoe UI"/>
              </a:rPr>
              <a:t>Шинэ нэмэх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2" y="3200400"/>
            <a:ext cx="2103120" cy="164591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Нэр, үнэ, нөөц,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зураг, ангилал оруулж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шинэ бараа үүсгэх.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35624" y="1874519"/>
            <a:ext cx="2606040" cy="3108960"/>
          </a:xfrm>
          <a:prstGeom prst="roundRect">
            <a:avLst>
              <a:gd name="adj" fmla="val 9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2103120"/>
            <a:ext cx="914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59E0B"/>
                </a:solidFill>
                <a:latin typeface="Segoe UI"/>
              </a:rPr>
              <a:t>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2743200"/>
            <a:ext cx="2057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AFAFA"/>
                </a:solidFill>
                <a:latin typeface="Segoe UI"/>
              </a:rPr>
              <a:t>Онцлох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3200400"/>
            <a:ext cx="2103120" cy="164591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Нүүр хуудсанд гарах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онцлох барааг сонгох.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0536" y="1874519"/>
            <a:ext cx="2606040" cy="3108960"/>
          </a:xfrm>
          <a:prstGeom prst="roundRect">
            <a:avLst>
              <a:gd name="adj" fmla="val 9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34856" y="2103120"/>
            <a:ext cx="914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8B5CF6"/>
                </a:solidFill>
                <a:latin typeface="Segoe UI"/>
              </a:rPr>
              <a:t>🗂️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4856" y="2743200"/>
            <a:ext cx="2057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AFAFA"/>
                </a:solidFill>
                <a:latin typeface="Segoe UI"/>
              </a:rPr>
              <a:t>Ангилал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4856" y="3200400"/>
            <a:ext cx="2103120" cy="164591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Барааны ангилал нэмэх,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зураг тохируулах,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засварлах.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212080"/>
            <a:ext cx="10789920" cy="1005840"/>
          </a:xfrm>
          <a:prstGeom prst="roundRect">
            <a:avLst>
              <a:gd name="adj" fmla="val 10000"/>
            </a:avLst>
          </a:prstGeom>
          <a:solidFill>
            <a:srgbClr val="18181B"/>
          </a:solidFill>
          <a:ln w="15875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413248"/>
            <a:ext cx="1024128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💡 Зөвлөмж:  </a:t>
            </a:r>
            <a:r>
              <a:rPr sz="1250" b="0">
                <a:solidFill>
                  <a:srgbClr val="A1A1AA"/>
                </a:solidFill>
                <a:latin typeface="Segoe UI"/>
              </a:rPr>
              <a:t>Шинэ бараа нэмэхдээ чанартай зураг, тодорхой тайлбар, зөв ангилал, бодит нөөцийн тоог оруулаарай — энэ нь хэрэглэгчид олж, итгэхэд тусална.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06 · АДМИН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AFAFA"/>
                </a:solidFill>
                <a:latin typeface="Segoe UI"/>
              </a:rPr>
              <a:t>Бүтээгдэхүүн ба ангилал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48640"/>
            <a:ext cx="822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1717A"/>
                </a:solidFill>
                <a:latin typeface="Segoe UI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5212080" cy="393192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5212080" cy="329184"/>
          </a:xfrm>
          <a:prstGeom prst="roundRect">
            <a:avLst>
              <a:gd name="adj" fmla="val 4000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69848" y="1892807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52728" y="1892807"/>
            <a:ext cx="100584" cy="100584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dmin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73501"/>
            <a:ext cx="5029200" cy="248026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5800" y="5824728"/>
            <a:ext cx="5212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A1A1AA"/>
                </a:solidFill>
                <a:latin typeface="Segoe UI"/>
              </a:rPr>
              <a:t>› Барааны жагсаалт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783080"/>
            <a:ext cx="5212080" cy="393192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1783080"/>
            <a:ext cx="5212080" cy="329184"/>
          </a:xfrm>
          <a:prstGeom prst="roundRect">
            <a:avLst>
              <a:gd name="adj" fmla="val 4000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01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784848" y="1892807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67728" y="1892807"/>
            <a:ext cx="100584" cy="100584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admin_catego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673465"/>
            <a:ext cx="5029200" cy="248033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0" y="5824728"/>
            <a:ext cx="5212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A1A1AA"/>
                </a:solidFill>
                <a:latin typeface="Segoe UI"/>
              </a:rPr>
              <a:t>› Ангиллын удирдлага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06 · АДМИН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AFAFA"/>
                </a:solidFill>
                <a:latin typeface="Segoe UI"/>
              </a:rPr>
              <a:t>Хувилбартай бараа (өнгө, хэмжээ)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48640"/>
            <a:ext cx="822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1717A"/>
                </a:solidFill>
                <a:latin typeface="Segoe UI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10789920" cy="1078992"/>
          </a:xfrm>
          <a:prstGeom prst="roundRect">
            <a:avLst>
              <a:gd name="adj" fmla="val 12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1832" y="2093976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A0A0B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947672"/>
            <a:ext cx="9692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AFAFA"/>
                </a:solidFill>
                <a:latin typeface="Segoe UI"/>
              </a:rPr>
              <a:t>Шинж чанар тодорхойлох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313432"/>
            <a:ext cx="9692640" cy="53035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Өнгө, хэмжээ, загвар, материал бүрийн утгуудыг нэмнэ (ж: Улаан, XL, Cotton).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026664"/>
            <a:ext cx="10789920" cy="1078992"/>
          </a:xfrm>
          <a:prstGeom prst="roundRect">
            <a:avLst>
              <a:gd name="adj" fmla="val 12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1832" y="333756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A0A0B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191256"/>
            <a:ext cx="9692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AFAFA"/>
                </a:solidFill>
                <a:latin typeface="Segoe UI"/>
              </a:rPr>
              <a:t>Хувилбар (хослол) үүсгэх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557016"/>
            <a:ext cx="9692640" cy="53035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Утгуудыг хослуулан хувилбар нэмж, тус бүрийн нөөц, үнэ, хямдрал, SKU-г оруулна.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270248"/>
            <a:ext cx="10789920" cy="1078992"/>
          </a:xfrm>
          <a:prstGeom prst="roundRect">
            <a:avLst>
              <a:gd name="adj" fmla="val 12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41832" y="4581144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A0A0B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34840"/>
            <a:ext cx="9692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AFAFA"/>
                </a:solidFill>
                <a:latin typeface="Segoe UI"/>
              </a:rPr>
              <a:t>Онцлог шинж нэмэх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800600"/>
            <a:ext cx="9692640" cy="53035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WiFi, Bluetooth, Type-C зэрэг нэмэлт шинжийг жагсаалтаар оруулна.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532120"/>
            <a:ext cx="10789920" cy="731520"/>
          </a:xfrm>
          <a:prstGeom prst="roundRect">
            <a:avLst>
              <a:gd name="adj" fmla="val 13000"/>
            </a:avLst>
          </a:prstGeom>
          <a:solidFill>
            <a:srgbClr val="18181B"/>
          </a:solidFill>
          <a:ln w="15875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650992"/>
            <a:ext cx="1024128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4B8A6"/>
                </a:solidFill>
                <a:latin typeface="Segoe UI"/>
              </a:rPr>
              <a:t>💡 </a:t>
            </a:r>
            <a:r>
              <a:rPr sz="1250" b="0">
                <a:solidFill>
                  <a:srgbClr val="A1A1AA"/>
                </a:solidFill>
                <a:latin typeface="Segoe UI"/>
              </a:rPr>
              <a:t>Хувилбарын үнэ хоосон бол барааны нийт үнэ хэрэглэгдэнэ. Нөөц 0 бол тухайн хослол хэрэглэгчид сонгогдохгүй.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06 · АДМИН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AFAFA"/>
                </a:solidFill>
                <a:latin typeface="Segoe UI"/>
              </a:rPr>
              <a:t>Хувилбар тодорхойлох ба нөөц/үнэ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48640"/>
            <a:ext cx="822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1717A"/>
                </a:solidFill>
                <a:latin typeface="Segoe UI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5212080" cy="393192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5212080" cy="329184"/>
          </a:xfrm>
          <a:prstGeom prst="roundRect">
            <a:avLst>
              <a:gd name="adj" fmla="val 4000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69848" y="1892807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52728" y="1892807"/>
            <a:ext cx="100584" cy="100584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roduct_vari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097" y="2203704"/>
            <a:ext cx="4625484" cy="34198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5800" y="5824728"/>
            <a:ext cx="5212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A1A1AA"/>
                </a:solidFill>
                <a:latin typeface="Segoe UI"/>
              </a:rPr>
              <a:t>› Шинж чанар, утгууд тодорхойлох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783080"/>
            <a:ext cx="5212080" cy="393192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1783080"/>
            <a:ext cx="5212080" cy="329184"/>
          </a:xfrm>
          <a:prstGeom prst="roundRect">
            <a:avLst>
              <a:gd name="adj" fmla="val 4000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01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784848" y="1892807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67728" y="1892807"/>
            <a:ext cx="100584" cy="100584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product_variant_and_st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865623"/>
            <a:ext cx="5029200" cy="209601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0" y="5824728"/>
            <a:ext cx="5212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A1A1AA"/>
                </a:solidFill>
                <a:latin typeface="Segoe UI"/>
              </a:rPr>
              <a:t>› Хувилбар бүрийн нөөц, үнэ, онцлог шинж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07 · АДМИН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AFAFA"/>
                </a:solidFill>
                <a:latin typeface="Segoe UI"/>
              </a:rPr>
              <a:t>Захиалга &amp; санхүү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48640"/>
            <a:ext cx="822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1717A"/>
                </a:solidFill>
                <a:latin typeface="Segoe UI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3429000" cy="4434840"/>
          </a:xfrm>
          <a:prstGeom prst="roundRect">
            <a:avLst>
              <a:gd name="adj" fmla="val 9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914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B8A6"/>
                </a:solidFill>
                <a:latin typeface="Segoe UI"/>
              </a:rPr>
              <a:t>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51760"/>
            <a:ext cx="2880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AFAFA"/>
                </a:solidFill>
                <a:latin typeface="Segoe UI"/>
              </a:rPr>
              <a:t>Захиалгууд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08960"/>
            <a:ext cx="2926080" cy="297179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Ирсэн захиалгыг харах,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дэлгэрэнгүй нээх,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төлөв шинэчлэх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(боловсруулах →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хүргэх → дуусгах).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Хэрэглэгчид автоматаар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мэдэгдэл очно.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83080"/>
            <a:ext cx="3429000" cy="4434840"/>
          </a:xfrm>
          <a:prstGeom prst="roundRect">
            <a:avLst>
              <a:gd name="adj" fmla="val 9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011680"/>
            <a:ext cx="914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3B82F6"/>
                </a:solidFill>
                <a:latin typeface="Segoe UI"/>
              </a:rPr>
              <a:t>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651760"/>
            <a:ext cx="2880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AFAFA"/>
                </a:solidFill>
                <a:latin typeface="Segoe UI"/>
              </a:rPr>
              <a:t>Төлбөр &amp; Invoice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108960"/>
            <a:ext cx="2926080" cy="297179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«Төлбөрүүд» — бүх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гүйлгээг хянана.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«QPay Invoice» 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нэхэмжлэлийн төлөв,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QR кодыг шалгана.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783080"/>
            <a:ext cx="3474720" cy="4434840"/>
          </a:xfrm>
          <a:prstGeom prst="roundRect">
            <a:avLst>
              <a:gd name="adj" fmla="val 9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011680"/>
            <a:ext cx="914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59E0B"/>
                </a:solidFill>
                <a:latin typeface="Segoe UI"/>
              </a:rPr>
              <a:t>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651760"/>
            <a:ext cx="2926079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AFAFA"/>
                </a:solidFill>
                <a:latin typeface="Segoe UI"/>
              </a:rPr>
              <a:t>Тайлан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108960"/>
            <a:ext cx="2971800" cy="297179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Борлуулалт, орлогын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тайланг хугацаагаар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гаргана.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Excel рүү экспортлож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хадгалах боломжтой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(.xlsx).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07 · АДМИН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AFAFA"/>
                </a:solidFill>
                <a:latin typeface="Segoe UI"/>
              </a:rPr>
              <a:t>Захиалга ба тайлан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48640"/>
            <a:ext cx="822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1717A"/>
                </a:solidFill>
                <a:latin typeface="Segoe UI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5212080" cy="393192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5212080" cy="329184"/>
          </a:xfrm>
          <a:prstGeom prst="roundRect">
            <a:avLst>
              <a:gd name="adj" fmla="val 4000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69848" y="1892807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52728" y="1892807"/>
            <a:ext cx="100584" cy="100584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dmin_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66252"/>
            <a:ext cx="5029200" cy="249475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5800" y="5824728"/>
            <a:ext cx="5212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A1A1AA"/>
                </a:solidFill>
                <a:latin typeface="Segoe UI"/>
              </a:rPr>
              <a:t>› Захиалгын удирдлага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783080"/>
            <a:ext cx="5212080" cy="393192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1783080"/>
            <a:ext cx="5212080" cy="329184"/>
          </a:xfrm>
          <a:prstGeom prst="roundRect">
            <a:avLst>
              <a:gd name="adj" fmla="val 4000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01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784848" y="1892807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67728" y="1892807"/>
            <a:ext cx="100584" cy="100584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admin_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675372"/>
            <a:ext cx="5029200" cy="247651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0" y="5824728"/>
            <a:ext cx="5212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A1A1AA"/>
                </a:solidFill>
                <a:latin typeface="Segoe UI"/>
              </a:rPr>
              <a:t>› Санхүүгийн тайлан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07 · АДМИН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AFAFA"/>
                </a:solidFill>
                <a:latin typeface="Segoe UI"/>
              </a:rPr>
              <a:t>Харилцагч · Тохиргоо · Мэдэгдэл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48640"/>
            <a:ext cx="822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1717A"/>
                </a:solidFill>
                <a:latin typeface="Segoe UI"/>
              </a:rP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3520440" cy="3291840"/>
          </a:xfrm>
          <a:prstGeom prst="roundRect">
            <a:avLst>
              <a:gd name="adj" fmla="val 9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914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8B5CF6"/>
                </a:solidFill>
                <a:latin typeface="Segoe UI"/>
              </a:rPr>
              <a:t>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43200"/>
            <a:ext cx="2971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AFAFA"/>
                </a:solidFill>
                <a:latin typeface="Segoe UI"/>
              </a:rPr>
              <a:t>Харилцагчид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00400"/>
            <a:ext cx="3017520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Бүртгэлтэй хэрэглэгчдийн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жагсаалт, захиалгын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түүх, дэлгэрэнгүйг үзэх.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874519"/>
            <a:ext cx="3520440" cy="3291840"/>
          </a:xfrm>
          <a:prstGeom prst="roundRect">
            <a:avLst>
              <a:gd name="adj" fmla="val 9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2103120"/>
            <a:ext cx="914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59E0B"/>
                </a:solidFill>
                <a:latin typeface="Segoe UI"/>
              </a:rPr>
              <a:t>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743200"/>
            <a:ext cx="2971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AFAFA"/>
                </a:solidFill>
                <a:latin typeface="Segoe UI"/>
              </a:rPr>
              <a:t>Мэдэгдэл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3200400"/>
            <a:ext cx="3017520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Шинэ захиалга, үйл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явдлын мэдэгдлийг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хүлээн авах, хянах.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64424" y="1874519"/>
            <a:ext cx="3520440" cy="3291840"/>
          </a:xfrm>
          <a:prstGeom prst="roundRect">
            <a:avLst>
              <a:gd name="adj" fmla="val 9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8744" y="2103120"/>
            <a:ext cx="914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B8A6"/>
                </a:solidFill>
                <a:latin typeface="Segoe UI"/>
              </a:rPr>
              <a:t>⚙️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2743200"/>
            <a:ext cx="2971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AFAFA"/>
                </a:solidFill>
                <a:latin typeface="Segoe UI"/>
              </a:rPr>
              <a:t>Тохиргоо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3200400"/>
            <a:ext cx="3017520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Дэлгүүрийн мэдээлэл,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админ профайл, системийн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тохиргоог удирдах.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440680"/>
            <a:ext cx="10789920" cy="777240"/>
          </a:xfrm>
          <a:prstGeom prst="roundRect">
            <a:avLst>
              <a:gd name="adj" fmla="val 13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577840"/>
            <a:ext cx="1024128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71717A"/>
                </a:solidFill>
                <a:latin typeface="Segoe UI"/>
              </a:rPr>
              <a:t>Цэс:  </a:t>
            </a:r>
            <a:r>
              <a:rPr sz="1250" b="0">
                <a:solidFill>
                  <a:srgbClr val="A1A1AA"/>
                </a:solidFill>
                <a:latin typeface="Segoe UI"/>
              </a:rPr>
              <a:t>Хянах самбар · Захиалгууд · Бүтээгдэхүүн · Харилцагчид · Санхүү · Тохиргоо · Мэдэгдэл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07 · АДМИН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AFAFA"/>
                </a:solidFill>
                <a:latin typeface="Segoe UI"/>
              </a:rPr>
              <a:t>Харилцагчид ба тохиргоо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48640"/>
            <a:ext cx="822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1717A"/>
                </a:solidFill>
                <a:latin typeface="Segoe UI"/>
              </a:rP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5212080" cy="393192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5212080" cy="329184"/>
          </a:xfrm>
          <a:prstGeom prst="roundRect">
            <a:avLst>
              <a:gd name="adj" fmla="val 4000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69848" y="1892807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52728" y="1892807"/>
            <a:ext cx="100584" cy="100584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dmin_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76038"/>
            <a:ext cx="5029200" cy="247518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5800" y="5824728"/>
            <a:ext cx="5212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A1A1AA"/>
                </a:solidFill>
                <a:latin typeface="Segoe UI"/>
              </a:rPr>
              <a:t>› Харилцагчдын жагсаалт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783080"/>
            <a:ext cx="5212080" cy="393192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1783080"/>
            <a:ext cx="5212080" cy="329184"/>
          </a:xfrm>
          <a:prstGeom prst="roundRect">
            <a:avLst>
              <a:gd name="adj" fmla="val 4000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01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784848" y="1892807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67728" y="1892807"/>
            <a:ext cx="100584" cy="100584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admin_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670221"/>
            <a:ext cx="5029200" cy="248682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0" y="5824728"/>
            <a:ext cx="5212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A1A1AA"/>
                </a:solidFill>
                <a:latin typeface="Segoe UI"/>
              </a:rPr>
              <a:t>› Системийн тохиргоо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07 · АДМИН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AFAFA"/>
                </a:solidFill>
                <a:latin typeface="Segoe UI"/>
              </a:rPr>
              <a:t>Салбарын удирдлага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48640"/>
            <a:ext cx="822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1717A"/>
                </a:solidFill>
                <a:latin typeface="Segoe UI"/>
              </a:rP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5349240" cy="2743200"/>
          </a:xfrm>
          <a:prstGeom prst="roundRect">
            <a:avLst>
              <a:gd name="adj" fmla="val 9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914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B8A6"/>
                </a:solidFill>
                <a:latin typeface="Segoe UI"/>
              </a:rPr>
              <a:t>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51760"/>
            <a:ext cx="4800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AFAFA"/>
                </a:solidFill>
                <a:latin typeface="Segoe UI"/>
              </a:rPr>
              <a:t>Салбар бүртгэх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08960"/>
            <a:ext cx="484632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Шинэ салбар нэмж, нэр,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утас, хаяг (хот/дүүрэг/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хороо) оруулна.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Газрын зураг дээр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байршлыг тэмдэглэнэ.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783080"/>
            <a:ext cx="5120640" cy="2743200"/>
          </a:xfrm>
          <a:prstGeom prst="roundRect">
            <a:avLst>
              <a:gd name="adj" fmla="val 9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11680"/>
            <a:ext cx="914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8B5CF6"/>
                </a:solidFill>
                <a:latin typeface="Segoe UI"/>
              </a:rPr>
              <a:t>👁️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51760"/>
            <a:ext cx="45720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AFAFA"/>
                </a:solidFill>
                <a:latin typeface="Segoe UI"/>
              </a:rPr>
              <a:t>Харуулах эсэх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108960"/>
            <a:ext cx="461772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«Салбаруудыг нийтэд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харуулах» тохиргоогоор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хэрэглэгчид харагдахыг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удирдана. Салбар бүрийг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идэвхтэй/идэвхгүй болгоно.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07 · АДМИН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AFAFA"/>
                </a:solidFill>
                <a:latin typeface="Segoe UI"/>
              </a:rPr>
              <a:t>Салбарын тохиргоо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48640"/>
            <a:ext cx="822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1717A"/>
                </a:solidFill>
                <a:latin typeface="Segoe UI"/>
              </a:rPr>
              <a:t>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91640" y="1783080"/>
            <a:ext cx="8778240" cy="411480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691640" y="1783080"/>
            <a:ext cx="8778240" cy="329184"/>
          </a:xfrm>
          <a:prstGeom prst="roundRect">
            <a:avLst>
              <a:gd name="adj" fmla="val 4000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9280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75688" y="1892807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58568" y="1892807"/>
            <a:ext cx="100584" cy="100584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ranch_settings_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292" y="2203704"/>
            <a:ext cx="5608935" cy="36027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91640" y="6007608"/>
            <a:ext cx="8778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A1A1AA"/>
                </a:solidFill>
                <a:latin typeface="Segoe UI"/>
              </a:rPr>
              <a:t>› Салбар нэмэх/засах · «Салбаруудыг нийтэд харуулах» тохиргоо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08 · ТУСЛАМЖ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AFAFA"/>
                </a:solidFill>
                <a:latin typeface="Segoe UI"/>
              </a:rPr>
              <a:t>Зөвлөмж ба түгээмэл асуултууд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48640"/>
            <a:ext cx="822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1717A"/>
                </a:solidFill>
                <a:latin typeface="Segoe UI"/>
              </a:rPr>
              <a:t>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5349240" cy="1325880"/>
          </a:xfrm>
          <a:prstGeom prst="roundRect">
            <a:avLst>
              <a:gd name="adj" fmla="val 10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47672"/>
            <a:ext cx="4800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EEAD4"/>
                </a:solidFill>
                <a:latin typeface="Segoe UI"/>
              </a:rPr>
              <a:t>❔ Нэвтэрч чадахгүй байна?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86584"/>
            <a:ext cx="48463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И-мэйл, нууц үгээ шалгаад «Нууц үг сэргээх»-ийг ашиглана.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783080"/>
            <a:ext cx="5349240" cy="1325880"/>
          </a:xfrm>
          <a:prstGeom prst="roundRect">
            <a:avLst>
              <a:gd name="adj" fmla="val 10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79" y="1947672"/>
            <a:ext cx="4800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EEAD4"/>
                </a:solidFill>
                <a:latin typeface="Segoe UI"/>
              </a:rPr>
              <a:t>❔ Төлбөр төлсөн ч баталгаажихгүй?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2386584"/>
            <a:ext cx="48463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Хэдэн секунд хүлээгээд «Захиалгууд» хэсгээс төлөвөө шалгана.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73552"/>
            <a:ext cx="5349240" cy="1325880"/>
          </a:xfrm>
          <a:prstGeom prst="roundRect">
            <a:avLst>
              <a:gd name="adj" fmla="val 10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438144"/>
            <a:ext cx="4800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EEAD4"/>
                </a:solidFill>
                <a:latin typeface="Segoe UI"/>
              </a:rPr>
              <a:t>❔ Барааны нөөц харагдахгүй?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877056"/>
            <a:ext cx="48463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Админ нөөцийн тоог зөв оруулсан эсэхийг шалгана.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3273552"/>
            <a:ext cx="5349240" cy="1325880"/>
          </a:xfrm>
          <a:prstGeom prst="roundRect">
            <a:avLst>
              <a:gd name="adj" fmla="val 10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79" y="3438144"/>
            <a:ext cx="4800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EEAD4"/>
                </a:solidFill>
                <a:latin typeface="Segoe UI"/>
              </a:rPr>
              <a:t>❔ Хүргэлтийн хаяг буруу?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3877056"/>
            <a:ext cx="48463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«Хаяг» хэсгээс засаж, газрын зураг дээр дахин тэмдэглэнэ.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764024"/>
            <a:ext cx="5349240" cy="1325880"/>
          </a:xfrm>
          <a:prstGeom prst="roundRect">
            <a:avLst>
              <a:gd name="adj" fmla="val 10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28616"/>
            <a:ext cx="4800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EEAD4"/>
                </a:solidFill>
                <a:latin typeface="Segoe UI"/>
              </a:rPr>
              <a:t>❔ Админ эрх авах?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367528"/>
            <a:ext cx="48463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Системийн администратороор дамжуулан эрхээ тохируулна.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59" y="4764024"/>
            <a:ext cx="5349240" cy="1325880"/>
          </a:xfrm>
          <a:prstGeom prst="roundRect">
            <a:avLst>
              <a:gd name="adj" fmla="val 10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79" y="4928616"/>
            <a:ext cx="4800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EEAD4"/>
                </a:solidFill>
                <a:latin typeface="Segoe UI"/>
              </a:rPr>
              <a:t>❔ Тайлан гаргах?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79" y="5367528"/>
            <a:ext cx="48463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1A1AA"/>
                </a:solidFill>
                <a:latin typeface="Segoe UI"/>
              </a:rPr>
              <a:t>Админ → Санхүү → Тайлан, огноогоор шүүж Excel татна.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AFAFA"/>
                </a:solidFill>
                <a:latin typeface="Segoe U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48640"/>
            <a:ext cx="822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1717A"/>
                </a:solidFill>
                <a:latin typeface="Segoe UI"/>
              </a:rPr>
              <a:t>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-1097280"/>
            <a:ext cx="5029200" cy="5029200"/>
          </a:xfrm>
          <a:prstGeom prst="roundRect">
            <a:avLst>
              <a:gd name="adj" fmla="val 50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0" y="3931920"/>
            <a:ext cx="4114800" cy="4114800"/>
          </a:xfrm>
          <a:prstGeom prst="roundRect">
            <a:avLst>
              <a:gd name="adj" fmla="val 50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91440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B8A6"/>
                </a:solidFill>
                <a:latin typeface="Segoe UI"/>
              </a:rPr>
              <a:t>АМЖИЛТ ХҮСЬЕ!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100584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AFAFA"/>
                </a:solidFill>
                <a:latin typeface="Segoe UI"/>
              </a:rPr>
              <a:t>IShop-оо хялбар ашиглаарай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96012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A1A1AA"/>
                </a:solidFill>
                <a:latin typeface="Segoe UI"/>
              </a:rPr>
              <a:t>Энэ гарын авлага хэрэглэгч болон админ хэсгийн үндсэн үйлдлүүдийг хамарлаа.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A1A1AA"/>
                </a:solidFill>
                <a:latin typeface="Segoe UI"/>
              </a:rPr>
              <a:t>Нэмэлт асуулт байвал системийн администратортой холбогдоно уу.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394960"/>
            <a:ext cx="1572768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376672"/>
            <a:ext cx="1572768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B8A6"/>
                </a:solidFill>
                <a:latin typeface="Segoe UI"/>
              </a:rPr>
              <a:t>IShop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